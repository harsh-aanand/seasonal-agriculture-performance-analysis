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50" d="100"/>
          <a:sy n="50" d="100"/>
        </p:scale>
        <p:origin x="29" y="845"/>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37450"/>
            <a:ext cx="7736523" cy="907962"/>
          </a:xfrm>
        </p:spPr>
        <p:txBody>
          <a:bodyPr vert="horz" lIns="91440" tIns="45720" rIns="91440" bIns="45720" rtlCol="0" anchor="t">
            <a:normAutofit/>
          </a:bodyPr>
          <a:lstStyle/>
          <a:p>
            <a:r>
              <a:rPr lang="en-US" b="0" dirty="0">
                <a:solidFill>
                  <a:schemeClr val="tx1"/>
                </a:solidFill>
              </a:rPr>
              <a:t>Student Name – Harsh Aanand</a:t>
            </a:r>
            <a:endParaRPr lang="en-IN" b="0" dirty="0">
              <a:solidFill>
                <a:schemeClr val="tx1"/>
              </a:solidFill>
            </a:endParaRPr>
          </a:p>
          <a:p>
            <a:r>
              <a:rPr lang="en-US" b="0" dirty="0">
                <a:solidFill>
                  <a:schemeClr val="tx1"/>
                </a:solidFill>
              </a:rPr>
              <a:t>College Name – Shri Phanishwar Nath Renu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66884" y="2784587"/>
            <a:ext cx="9913436" cy="743448"/>
          </a:xfrm>
        </p:spPr>
        <p:txBody>
          <a:bodyPr>
            <a:normAutofit fontScale="90000"/>
          </a:bodyPr>
          <a:lstStyle/>
          <a:p>
            <a:r>
              <a:rPr lang="en-GB" sz="3200" b="1" dirty="0"/>
              <a:t>Project Title- </a:t>
            </a:r>
            <a:r>
              <a:rPr lang="en-IN" sz="3200" b="1"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454826"/>
            <a:ext cx="5602924" cy="369332"/>
          </a:xfrm>
          <a:prstGeom prst="rect">
            <a:avLst/>
          </a:prstGeom>
          <a:noFill/>
        </p:spPr>
        <p:txBody>
          <a:bodyPr wrap="square" rtlCol="0">
            <a:spAutoFit/>
          </a:bodyPr>
          <a:lstStyle/>
          <a:p>
            <a:r>
              <a:rPr lang="en-US" b="1" dirty="0"/>
              <a:t>AICTE STU ID : STU6831cc8df173b1748094093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00541" y="2005279"/>
            <a:ext cx="6703726" cy="4189964"/>
          </a:xfrm>
        </p:spPr>
        <p:txBody>
          <a:bodyPr vert="horz" lIns="91440" tIns="45720" rIns="91440" bIns="45720" rtlCol="0" anchor="t">
            <a:noAutofit/>
          </a:bodyPr>
          <a:lstStyle/>
          <a:p>
            <a:pPr algn="just">
              <a:lnSpc>
                <a:spcPct val="100000"/>
              </a:lnSpc>
            </a:pPr>
            <a:r>
              <a:rPr lang="en-IN" sz="2400" dirty="0">
                <a:latin typeface="Aparajita" panose="02020603050405020304" pitchFamily="18" charset="0"/>
                <a:cs typeface="Aparajita"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400" dirty="0" err="1">
                <a:latin typeface="Aparajita" panose="02020603050405020304" pitchFamily="18" charset="0"/>
                <a:cs typeface="Aparajita" panose="02020603050405020304" pitchFamily="18" charset="0"/>
              </a:rPr>
              <a:t>analyze</a:t>
            </a:r>
            <a:r>
              <a:rPr lang="en-IN" sz="2400" dirty="0">
                <a:latin typeface="Aparajita" panose="02020603050405020304" pitchFamily="18" charset="0"/>
                <a:cs typeface="Aparajita"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pPr lvl="0"/>
            <a:r>
              <a:rPr lang="en-GB" sz="2000" dirty="0"/>
              <a:t>Project Description</a:t>
            </a:r>
            <a:br>
              <a:rPr lang="en-GB" sz="1600" dirty="0"/>
            </a:br>
            <a:br>
              <a:rPr lang="en-GB" sz="1600" dirty="0"/>
            </a:br>
            <a:r>
              <a:rPr lang="en-IN" sz="1600" dirty="0"/>
              <a:t>The project </a:t>
            </a:r>
            <a:r>
              <a:rPr lang="en-IN" sz="1600" dirty="0" err="1"/>
              <a:t>analyzes</a:t>
            </a:r>
            <a:r>
              <a:rPr lang="en-IN" sz="1600" dirty="0"/>
              <a:t> agricultural data across varying seasons, regions, and farming conditions to uncover patterns in farming performance. </a:t>
            </a:r>
            <a:br>
              <a:rPr lang="en-IN" sz="1600" dirty="0"/>
            </a:br>
            <a:r>
              <a:rPr lang="en-IN" sz="1600" dirty="0"/>
              <a:t>It addresses the challenge of raw farm data failing to explain seasonal variations in environmental conditions, practices, and resource usage. </a:t>
            </a:r>
            <a:br>
              <a:rPr lang="en-IN" sz="1600" dirty="0"/>
            </a:br>
            <a:r>
              <a:rPr lang="en-IN" sz="1600" dirty="0"/>
              <a:t>The primary objective is to clean the dataset, evaluate seasonal performance shifts, and identify key trends using statistical analysis and visualizations. </a:t>
            </a:r>
            <a:br>
              <a:rPr lang="en-IN" sz="1600" dirty="0"/>
            </a:br>
            <a:r>
              <a:rPr lang="en-IN" sz="1600" dirty="0"/>
              <a:t>Core dimensions </a:t>
            </a:r>
            <a:r>
              <a:rPr lang="en-IN" sz="1600" dirty="0" err="1"/>
              <a:t>analyzed</a:t>
            </a:r>
            <a:r>
              <a:rPr lang="en-IN" sz="1600" dirty="0"/>
              <a:t> include </a:t>
            </a:r>
            <a:r>
              <a:rPr lang="en-IN" sz="1600" dirty="0" err="1"/>
              <a:t>agro</a:t>
            </a:r>
            <a:r>
              <a:rPr lang="en-IN" sz="1600" dirty="0"/>
              <a:t>-climatic factors, irrigation methods, crop yield productivity, and farm economic profitability. </a:t>
            </a:r>
            <a:br>
              <a:rPr lang="en-IN" sz="1600" dirty="0"/>
            </a:br>
            <a:r>
              <a:rPr lang="en-IN" sz="1600" dirty="0"/>
              <a:t>The analysis yields evidence-based insights, revealing severe resource and profit disparities across seasons and irrigation practices. </a:t>
            </a:r>
            <a:br>
              <a:rPr lang="en-IN" sz="1600" dirty="0"/>
            </a:br>
            <a:r>
              <a:rPr lang="en-IN" sz="1600" dirty="0"/>
              <a:t>The final outcome delivers data-driven recommendations to support stakeholders in better seasonal agricultural planning and resource management. </a:t>
            </a:r>
            <a:br>
              <a:rPr lang="en-IN" sz="1600" dirty="0"/>
            </a:b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554479"/>
            <a:ext cx="7944872" cy="4661217"/>
          </a:xfrm>
        </p:spPr>
        <p:txBody>
          <a:bodyPr>
            <a:normAutofit fontScale="92500" lnSpcReduction="10000"/>
          </a:bodyPr>
          <a:lstStyle/>
          <a:p>
            <a:pPr lvl="0"/>
            <a:r>
              <a:rPr lang="en-IN" b="1" dirty="0"/>
              <a:t>Farmers &amp; Farm Managers:</a:t>
            </a:r>
            <a:r>
              <a:rPr lang="en-IN" dirty="0"/>
              <a:t> To make informed decisions on seasonal crop selection, choose cost-effective irrigation methods (e.g., drip vs. flood), and optimize water and pesticide usage to avoid net financial losses. </a:t>
            </a:r>
          </a:p>
          <a:p>
            <a:pPr lvl="0"/>
            <a:r>
              <a:rPr lang="en-IN" b="1" dirty="0"/>
              <a:t>Agricultural Policy Makers &amp; Government Bodies:</a:t>
            </a:r>
            <a:r>
              <a:rPr lang="en-IN" dirty="0"/>
              <a:t> To plan regional resource allocations, design seasonal subsidies, and support evidence-based agricultural planning and water-conservation policies. </a:t>
            </a:r>
          </a:p>
          <a:p>
            <a:pPr lvl="0"/>
            <a:r>
              <a:rPr lang="en-IN" b="1" dirty="0"/>
              <a:t>Agri-Tech &amp; Input Suppliers:</a:t>
            </a:r>
            <a:r>
              <a:rPr lang="en-IN" dirty="0"/>
              <a:t> To forecast seasonal demand for fertilizers, pesticides, and specialized irrigation equipment based on regional farming needs. </a:t>
            </a:r>
          </a:p>
          <a:p>
            <a:pPr lvl="0"/>
            <a:r>
              <a:rPr lang="en-IN" b="1" dirty="0"/>
              <a:t>Agricultural Researchers &amp; Extension Officers:</a:t>
            </a:r>
            <a:r>
              <a:rPr lang="en-IN" dirty="0"/>
              <a:t> To investigate environmental-yield relationships, address seasonal vulnerabilities (such as pest risks or dry-season drop-offs), and provide actionable advisory services to local farming communities.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lnSpcReduction="10000"/>
          </a:bodyPr>
          <a:lstStyle/>
          <a:p>
            <a:r>
              <a:rPr lang="en-IN" sz="2400" b="1" dirty="0"/>
              <a:t>Core Platform &amp; Environment</a:t>
            </a:r>
          </a:p>
          <a:p>
            <a:pPr lvl="0"/>
            <a:r>
              <a:rPr lang="en-IN" b="1" dirty="0"/>
              <a:t>Google </a:t>
            </a:r>
            <a:r>
              <a:rPr lang="en-IN" b="1" dirty="0" err="1"/>
              <a:t>Colab</a:t>
            </a:r>
            <a:r>
              <a:rPr lang="en-IN" b="1" dirty="0"/>
              <a:t> (Jupyter Notebook):</a:t>
            </a:r>
            <a:r>
              <a:rPr lang="en-IN" dirty="0"/>
              <a:t> . </a:t>
            </a:r>
          </a:p>
          <a:p>
            <a:r>
              <a:rPr lang="en-IN" b="1" dirty="0"/>
              <a:t>Python 3:</a:t>
            </a:r>
            <a:r>
              <a:rPr lang="en-IN" dirty="0"/>
              <a:t> </a:t>
            </a:r>
          </a:p>
          <a:p>
            <a:r>
              <a:rPr lang="en-IN" b="1" dirty="0"/>
              <a:t>Data Manipulation &amp; Numerical Computing Libraries</a:t>
            </a:r>
            <a:endParaRPr lang="en-IN" dirty="0"/>
          </a:p>
          <a:p>
            <a:pPr lvl="0"/>
            <a:r>
              <a:rPr lang="en-IN" b="1" dirty="0"/>
              <a:t>Pandas    ,</a:t>
            </a:r>
            <a:r>
              <a:rPr lang="en-IN" dirty="0"/>
              <a:t>     </a:t>
            </a:r>
            <a:r>
              <a:rPr lang="en-IN" b="1" dirty="0"/>
              <a:t>NumPy</a:t>
            </a:r>
            <a:endParaRPr lang="en-IN" dirty="0"/>
          </a:p>
          <a:p>
            <a:pPr lvl="0"/>
            <a:r>
              <a:rPr lang="en-IN" b="1" dirty="0"/>
              <a:t>Data Visualization &amp; Charting Libraries</a:t>
            </a:r>
            <a:endParaRPr lang="en-IN" dirty="0"/>
          </a:p>
          <a:p>
            <a:pPr lvl="0"/>
            <a:r>
              <a:rPr lang="en-IN" b="1" dirty="0"/>
              <a:t>Matplotlib (</a:t>
            </a:r>
            <a:r>
              <a:rPr lang="en-IN" b="1" dirty="0" err="1"/>
              <a:t>pyplot</a:t>
            </a:r>
            <a:r>
              <a:rPr lang="en-IN" b="1" dirty="0"/>
              <a:t>) Seaborn</a:t>
            </a:r>
            <a:r>
              <a:rPr lang="en-IN" dirty="0"/>
              <a:t> </a:t>
            </a:r>
          </a:p>
          <a:p>
            <a:pPr lvl="0"/>
            <a:r>
              <a:rPr lang="en-IN" b="1" dirty="0"/>
              <a:t>Statistical &amp; Analytical Techniques Applied</a:t>
            </a:r>
            <a:endParaRPr lang="en-IN" dirty="0"/>
          </a:p>
          <a:p>
            <a:pPr lvl="0"/>
            <a:r>
              <a:rPr lang="en-IN" b="1" dirty="0"/>
              <a:t>Descriptive Statistics , Outlier Detection ,Correlation Analysis</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69A4AF57-13DB-872C-2EB1-785BF7A64591}"/>
              </a:ext>
            </a:extLst>
          </p:cNvPr>
          <p:cNvPicPr>
            <a:picLocks noChangeAspect="1"/>
          </p:cNvPicPr>
          <p:nvPr/>
        </p:nvPicPr>
        <p:blipFill>
          <a:blip r:embed="rId3"/>
          <a:stretch>
            <a:fillRect/>
          </a:stretch>
        </p:blipFill>
        <p:spPr>
          <a:xfrm>
            <a:off x="0" y="1201585"/>
            <a:ext cx="10384899" cy="463326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70F3EEC-C66D-52A2-645C-839A18D4000D}"/>
              </a:ext>
            </a:extLst>
          </p:cNvPr>
          <p:cNvPicPr>
            <a:picLocks noChangeAspect="1"/>
          </p:cNvPicPr>
          <p:nvPr/>
        </p:nvPicPr>
        <p:blipFill>
          <a:blip r:embed="rId3"/>
          <a:stretch>
            <a:fillRect/>
          </a:stretch>
        </p:blipFill>
        <p:spPr>
          <a:xfrm>
            <a:off x="533400" y="1275370"/>
            <a:ext cx="9150505" cy="521204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AFCB7C42-A5F0-9758-4E6A-16A97D6BA93F}"/>
              </a:ext>
            </a:extLst>
          </p:cNvPr>
          <p:cNvPicPr>
            <a:picLocks noChangeAspect="1"/>
          </p:cNvPicPr>
          <p:nvPr/>
        </p:nvPicPr>
        <p:blipFill>
          <a:blip r:embed="rId3"/>
          <a:stretch>
            <a:fillRect/>
          </a:stretch>
        </p:blipFill>
        <p:spPr>
          <a:xfrm>
            <a:off x="320982" y="1201586"/>
            <a:ext cx="9356418" cy="552306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356B49F-084A-8D94-773E-8EFA7EDF5563}"/>
              </a:ext>
            </a:extLst>
          </p:cNvPr>
          <p:cNvPicPr>
            <a:picLocks noChangeAspect="1"/>
          </p:cNvPicPr>
          <p:nvPr/>
        </p:nvPicPr>
        <p:blipFill>
          <a:blip r:embed="rId3"/>
          <a:stretch>
            <a:fillRect/>
          </a:stretch>
        </p:blipFill>
        <p:spPr>
          <a:xfrm>
            <a:off x="675957" y="992459"/>
            <a:ext cx="9001443" cy="586554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860BA68-15FD-55B9-6462-5082549AFF70}"/>
              </a:ext>
            </a:extLst>
          </p:cNvPr>
          <p:cNvPicPr>
            <a:picLocks noChangeAspect="1"/>
          </p:cNvPicPr>
          <p:nvPr/>
        </p:nvPicPr>
        <p:blipFill>
          <a:blip r:embed="rId3"/>
          <a:stretch>
            <a:fillRect/>
          </a:stretch>
        </p:blipFill>
        <p:spPr>
          <a:xfrm>
            <a:off x="675957" y="1201586"/>
            <a:ext cx="9351963" cy="565641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9402138" cy="538958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26B74ED0-EC32-3378-E40D-E6D48871360A}"/>
              </a:ext>
            </a:extLst>
          </p:cNvPr>
          <p:cNvSpPr txBox="1"/>
          <p:nvPr/>
        </p:nvSpPr>
        <p:spPr>
          <a:xfrm>
            <a:off x="320982" y="1066800"/>
            <a:ext cx="9005898" cy="5909310"/>
          </a:xfrm>
          <a:prstGeom prst="rect">
            <a:avLst/>
          </a:prstGeom>
          <a:noFill/>
        </p:spPr>
        <p:txBody>
          <a:bodyPr wrap="square" rtlCol="0">
            <a:spAutoFit/>
          </a:bodyPr>
          <a:lstStyle/>
          <a:p>
            <a:r>
              <a:rPr lang="en-IN" b="1" dirty="0"/>
              <a:t>Predictive Machine Learning </a:t>
            </a:r>
            <a:r>
              <a:rPr lang="en-IN" b="1" dirty="0" err="1"/>
              <a:t>Modeling</a:t>
            </a:r>
            <a:r>
              <a:rPr lang="en-IN" b="1" dirty="0"/>
              <a:t>:</a:t>
            </a:r>
            <a:r>
              <a:rPr lang="en-IN" dirty="0"/>
              <a:t> Transition from retrospective descriptive analytics to building regression and ensemble models</a:t>
            </a:r>
          </a:p>
          <a:p>
            <a:endParaRPr lang="en-IN" dirty="0"/>
          </a:p>
          <a:p>
            <a:r>
              <a:rPr lang="en-IN" b="1" dirty="0"/>
              <a:t>Seasonal Crop &amp; Irrigation Recommendation Engine:</a:t>
            </a:r>
            <a:r>
              <a:rPr lang="en-IN" dirty="0"/>
              <a:t> Build an intelligent decision-support system that takes soil NPK levels, seasonal climate projections, and farm area as inputs to prescribe optimal crop choices and irrigation methods.</a:t>
            </a:r>
          </a:p>
          <a:p>
            <a:endParaRPr lang="en-IN" dirty="0"/>
          </a:p>
          <a:p>
            <a:pPr lvl="0"/>
            <a:r>
              <a:rPr lang="en-IN" b="1" dirty="0"/>
              <a:t>Precision Input Optimization:</a:t>
            </a:r>
            <a:r>
              <a:rPr lang="en-IN" dirty="0"/>
              <a:t> Deploy mathematical optimization algorithms to calculate minimum threshold fertilizer and pesticide quantities, curbing input costs and lowering disease risks without hurting yield. </a:t>
            </a:r>
          </a:p>
          <a:p>
            <a:pPr lvl="0"/>
            <a:r>
              <a:rPr lang="en-IN" b="1" dirty="0"/>
              <a:t>Integration with Live IoT &amp; Satellite Weather Feeds:</a:t>
            </a:r>
            <a:r>
              <a:rPr lang="en-IN" dirty="0"/>
              <a:t> Expand static historical records into real-time telemetry pipelines by ingesting ground soil-moisture sensors, automated weather stations, and satellite NDVI imagery.</a:t>
            </a:r>
          </a:p>
          <a:p>
            <a:pPr lvl="0"/>
            <a:r>
              <a:rPr lang="en-IN" b="1" dirty="0"/>
              <a:t>Dynamic Market Price Forecasting:</a:t>
            </a:r>
            <a:r>
              <a:rPr lang="en-IN" dirty="0"/>
              <a:t> Incorporate time-series forecasting (e.g., ARIMA, Prophet, or LSTM networks) on mandi market price variations to recommend optimal harvest and selling windows. </a:t>
            </a:r>
          </a:p>
          <a:p>
            <a:pPr lvl="0"/>
            <a:r>
              <a:rPr lang="en-IN" b="1" dirty="0"/>
              <a:t>Interactive Web Dashboard Deployment:</a:t>
            </a:r>
            <a:r>
              <a:rPr lang="en-IN" dirty="0"/>
              <a:t> Package the notebook analytics pipeline into an interactive production web application (using </a:t>
            </a:r>
            <a:r>
              <a:rPr lang="en-IN" dirty="0" err="1"/>
              <a:t>Streamlit</a:t>
            </a:r>
            <a:r>
              <a:rPr lang="en-IN" dirty="0"/>
              <a:t> or </a:t>
            </a:r>
            <a:r>
              <a:rPr lang="en-IN" dirty="0" err="1"/>
              <a:t>Plotly</a:t>
            </a:r>
            <a:r>
              <a:rPr lang="en-IN" dirty="0"/>
              <a:t> Dash) enabling non-technical farmers and extension officers to simulate seasonal ROI scenarios. </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CA013D2D-583C-C788-9F73-23E7CDBAC8EE}"/>
              </a:ext>
            </a:extLst>
          </p:cNvPr>
          <p:cNvSpPr txBox="1"/>
          <p:nvPr/>
        </p:nvSpPr>
        <p:spPr>
          <a:xfrm>
            <a:off x="589564" y="1201586"/>
            <a:ext cx="8682990" cy="369332"/>
          </a:xfrm>
          <a:prstGeom prst="rect">
            <a:avLst/>
          </a:prstGeom>
          <a:noFill/>
        </p:spPr>
        <p:txBody>
          <a:bodyPr wrap="square">
            <a:spAutoFit/>
          </a:bodyPr>
          <a:lstStyle/>
          <a:p>
            <a:r>
              <a:rPr lang="en-IN" dirty="0"/>
              <a:t>https://github.com/Harsh-Aanand/seasonal-agriculture-performance-analysis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6617E2A1-1877-821C-2BEA-86797502E9B2}"/>
              </a:ext>
            </a:extLst>
          </p:cNvPr>
          <p:cNvPicPr>
            <a:picLocks noChangeAspect="1"/>
          </p:cNvPicPr>
          <p:nvPr/>
        </p:nvPicPr>
        <p:blipFill>
          <a:blip r:embed="rId3"/>
          <a:stretch>
            <a:fillRect/>
          </a:stretch>
        </p:blipFill>
        <p:spPr>
          <a:xfrm>
            <a:off x="889317" y="1391031"/>
            <a:ext cx="7302301" cy="508088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381560" y="2251559"/>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608</TotalTime>
  <Words>675</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Aparajita</vt:lpstr>
      <vt:lpstr>Arial</vt:lpstr>
      <vt:lpstr>Calibri</vt:lpstr>
      <vt:lpstr>Trebuchet MS</vt:lpstr>
      <vt:lpstr>Wingdings</vt:lpstr>
      <vt:lpstr>Wingdings 3</vt:lpstr>
      <vt:lpstr>Facet</vt:lpstr>
      <vt:lpstr>Project Title- Seasonal Agriculture Performance Analysis </vt:lpstr>
      <vt:lpstr>PROBLEM  STATEMENT</vt:lpstr>
      <vt:lpstr>Project Description  The project analyzes agricultural data across varying seasons, regions, and farming conditions to uncover patterns in farming performance.  It addresses the challenge of raw farm data failing to explain seasonal variations in environmental conditions, practices, and resource usage.  The primary objective is to clean the dataset, evaluate seasonal performance shifts, and identify key trends using statistical analysis and visualizations.  Core dimensions analyzed include agro-climatic factors, irrigation methods, crop yield productivity, and farm economic profitability.  The analysis yields evidence-based insights, revealing severe resource and profit disparities across seasons and irrigation practices.  The final outcome delivers data-driven recommendations to support stakeholders in better seasonal agricultural planning and resource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Anshu Anish</cp:lastModifiedBy>
  <cp:revision>98</cp:revision>
  <dcterms:created xsi:type="dcterms:W3CDTF">2021-07-11T13:13:15Z</dcterms:created>
  <dcterms:modified xsi:type="dcterms:W3CDTF">2026-09-10T18:51:54Z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